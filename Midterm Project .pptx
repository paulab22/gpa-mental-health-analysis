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60"/>
    <p:restoredTop sz="94696"/>
  </p:normalViewPr>
  <p:slideViewPr>
    <p:cSldViewPr snapToGrid="0">
      <p:cViewPr varScale="1">
        <p:scale>
          <a:sx n="81" d="100"/>
          <a:sy n="81" d="100"/>
        </p:scale>
        <p:origin x="216" y="440"/>
      </p:cViewPr>
      <p:guideLst/>
    </p:cSldViewPr>
  </p:slideViewPr>
  <p:notesTextViewPr>
    <p:cViewPr>
      <p:scale>
        <a:sx n="1" d="1"/>
        <a:sy n="1" d="1"/>
      </p:scale>
      <p:origin x="0" y="0"/>
    </p:cViewPr>
  </p:notesTextViewPr>
  <p:notesViewPr>
    <p:cSldViewPr snapToGrid="0">
      <p:cViewPr varScale="1">
        <p:scale>
          <a:sx n="99" d="100"/>
          <a:sy n="99" d="100"/>
        </p:scale>
        <p:origin x="3752" y="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CCBF9A-4DE5-8448-8F43-FD063EC57DE5}" type="datetimeFigureOut">
              <a:rPr lang="en-US" smtClean="0"/>
              <a:t>5/1/25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7CE144-6400-6240-AB76-76B03F8C796D}" type="slidenum">
              <a:rPr lang="en-US" smtClean="0"/>
              <a:t>‹#›</a:t>
            </a:fld>
            <a:endParaRPr lang="en-US"/>
          </a:p>
        </p:txBody>
      </p:sp>
    </p:spTree>
    <p:extLst>
      <p:ext uri="{BB962C8B-B14F-4D97-AF65-F5344CB8AC3E}">
        <p14:creationId xmlns:p14="http://schemas.microsoft.com/office/powerpoint/2010/main" val="589488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1">
                    <a:lumMod val="50000"/>
                  </a:schemeClr>
                </a:solidFill>
                <a:latin typeface="Arima Koshi" pitchFamily="2" charset="77"/>
                <a:cs typeface="Arima Koshi" pitchFamily="2" charset="77"/>
              </a:rPr>
              <a:t>The graph to the left shows that students with B average grades (3.00 – 3.49) reported having depression more than the other groups of students. The graph to the right shows that students with A average grades (3.50 – 4.00) reported having anxiety more than the other groups of students.</a:t>
            </a:r>
            <a:endParaRPr lang="en-US" dirty="0"/>
          </a:p>
        </p:txBody>
      </p:sp>
      <p:sp>
        <p:nvSpPr>
          <p:cNvPr id="4" name="Slide Number Placeholder 3"/>
          <p:cNvSpPr>
            <a:spLocks noGrp="1"/>
          </p:cNvSpPr>
          <p:nvPr>
            <p:ph type="sldNum" sz="quarter" idx="5"/>
          </p:nvPr>
        </p:nvSpPr>
        <p:spPr/>
        <p:txBody>
          <a:bodyPr/>
          <a:lstStyle/>
          <a:p>
            <a:fld id="{1B7CE144-6400-6240-AB76-76B03F8C796D}" type="slidenum">
              <a:rPr lang="en-US" smtClean="0"/>
              <a:t>5</a:t>
            </a:fld>
            <a:endParaRPr lang="en-US"/>
          </a:p>
        </p:txBody>
      </p:sp>
    </p:spTree>
    <p:extLst>
      <p:ext uri="{BB962C8B-B14F-4D97-AF65-F5344CB8AC3E}">
        <p14:creationId xmlns:p14="http://schemas.microsoft.com/office/powerpoint/2010/main" val="37930348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B7CE144-6400-6240-AB76-76B03F8C796D}" type="slidenum">
              <a:rPr lang="en-US" smtClean="0"/>
              <a:t>6</a:t>
            </a:fld>
            <a:endParaRPr lang="en-US"/>
          </a:p>
        </p:txBody>
      </p:sp>
    </p:spTree>
    <p:extLst>
      <p:ext uri="{BB962C8B-B14F-4D97-AF65-F5344CB8AC3E}">
        <p14:creationId xmlns:p14="http://schemas.microsoft.com/office/powerpoint/2010/main" val="23495499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EFB6FA0-93B1-2A41-843B-B82F30929E0D}" type="datetimeFigureOut">
              <a:rPr lang="en-US" smtClean="0"/>
              <a:t>5/1/25</a:t>
            </a:fld>
            <a:endParaRPr 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B36F324B-0AC3-E642-A712-3E5402355163}" type="slidenum">
              <a:rPr lang="en-US" smtClean="0"/>
              <a:t>‹#›</a:t>
            </a:fld>
            <a:endParaRPr lang="en-US"/>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374255111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FB6FA0-93B1-2A41-843B-B82F30929E0D}" type="datetimeFigureOut">
              <a:rPr lang="en-US" smtClean="0"/>
              <a:t>5/1/25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6F324B-0AC3-E642-A712-3E5402355163}" type="slidenum">
              <a:rPr lang="en-US" smtClean="0"/>
              <a:t>‹#›</a:t>
            </a:fld>
            <a:endParaRPr lang="en-US"/>
          </a:p>
        </p:txBody>
      </p:sp>
    </p:spTree>
    <p:extLst>
      <p:ext uri="{BB962C8B-B14F-4D97-AF65-F5344CB8AC3E}">
        <p14:creationId xmlns:p14="http://schemas.microsoft.com/office/powerpoint/2010/main" val="2267430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EFB6FA0-93B1-2A41-843B-B82F30929E0D}" type="datetimeFigureOut">
              <a:rPr lang="en-US" smtClean="0"/>
              <a:t>5/1/25</a:t>
            </a:fld>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B36F324B-0AC3-E642-A712-3E5402355163}" type="slidenum">
              <a:rPr lang="en-US" smtClean="0"/>
              <a:t>‹#›</a:t>
            </a:fld>
            <a:endParaRPr 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131971419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FB6FA0-93B1-2A41-843B-B82F30929E0D}" type="datetimeFigureOut">
              <a:rPr lang="en-US" smtClean="0"/>
              <a:t>5/1/25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6F324B-0AC3-E642-A712-3E5402355163}" type="slidenum">
              <a:rPr lang="en-US" smtClean="0"/>
              <a:t>‹#›</a:t>
            </a:fld>
            <a:endParaRPr lang="en-US"/>
          </a:p>
        </p:txBody>
      </p:sp>
    </p:spTree>
    <p:extLst>
      <p:ext uri="{BB962C8B-B14F-4D97-AF65-F5344CB8AC3E}">
        <p14:creationId xmlns:p14="http://schemas.microsoft.com/office/powerpoint/2010/main" val="1884597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EFB6FA0-93B1-2A41-843B-B82F30929E0D}" type="datetimeFigureOut">
              <a:rPr lang="en-US" smtClean="0"/>
              <a:t>5/1/25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6F324B-0AC3-E642-A712-3E5402355163}" type="slidenum">
              <a:rPr lang="en-US" smtClean="0"/>
              <a:t>‹#›</a:t>
            </a:fld>
            <a:endParaRPr lang="en-US"/>
          </a:p>
        </p:txBody>
      </p:sp>
    </p:spTree>
    <p:extLst>
      <p:ext uri="{BB962C8B-B14F-4D97-AF65-F5344CB8AC3E}">
        <p14:creationId xmlns:p14="http://schemas.microsoft.com/office/powerpoint/2010/main" val="3974827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EFB6FA0-93B1-2A41-843B-B82F30929E0D}" type="datetimeFigureOut">
              <a:rPr lang="en-US" smtClean="0"/>
              <a:t>5/1/25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6F324B-0AC3-E642-A712-3E5402355163}" type="slidenum">
              <a:rPr lang="en-US" smtClean="0"/>
              <a:t>‹#›</a:t>
            </a:fld>
            <a:endParaRPr lang="en-US"/>
          </a:p>
        </p:txBody>
      </p:sp>
    </p:spTree>
    <p:extLst>
      <p:ext uri="{BB962C8B-B14F-4D97-AF65-F5344CB8AC3E}">
        <p14:creationId xmlns:p14="http://schemas.microsoft.com/office/powerpoint/2010/main" val="919504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FB6FA0-93B1-2A41-843B-B82F30929E0D}" type="datetimeFigureOut">
              <a:rPr lang="en-US" smtClean="0"/>
              <a:t>5/1/25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6F324B-0AC3-E642-A712-3E5402355163}" type="slidenum">
              <a:rPr lang="en-US" smtClean="0"/>
              <a:t>‹#›</a:t>
            </a:fld>
            <a:endParaRPr lang="en-US"/>
          </a:p>
        </p:txBody>
      </p:sp>
    </p:spTree>
    <p:extLst>
      <p:ext uri="{BB962C8B-B14F-4D97-AF65-F5344CB8AC3E}">
        <p14:creationId xmlns:p14="http://schemas.microsoft.com/office/powerpoint/2010/main" val="55499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EFB6FA0-93B1-2A41-843B-B82F30929E0D}" type="datetimeFigureOut">
              <a:rPr lang="en-US" smtClean="0"/>
              <a:t>5/1/25</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B36F324B-0AC3-E642-A712-3E5402355163}"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1206433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EFB6FA0-93B1-2A41-843B-B82F30929E0D}" type="datetimeFigureOut">
              <a:rPr lang="en-US" smtClean="0"/>
              <a:t>5/1/25</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B36F324B-0AC3-E642-A712-3E5402355163}"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57295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FB6FA0-93B1-2A41-843B-B82F30929E0D}" type="datetimeFigureOut">
              <a:rPr lang="en-US" smtClean="0"/>
              <a:t>5/1/25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6F324B-0AC3-E642-A712-3E5402355163}" type="slidenum">
              <a:rPr lang="en-US" smtClean="0"/>
              <a:t>‹#›</a:t>
            </a:fld>
            <a:endParaRPr lang="en-US"/>
          </a:p>
        </p:txBody>
      </p:sp>
    </p:spTree>
    <p:extLst>
      <p:ext uri="{BB962C8B-B14F-4D97-AF65-F5344CB8AC3E}">
        <p14:creationId xmlns:p14="http://schemas.microsoft.com/office/powerpoint/2010/main" val="1115564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FB6FA0-93B1-2A41-843B-B82F30929E0D}" type="datetimeFigureOut">
              <a:rPr lang="en-US" smtClean="0"/>
              <a:t>5/1/25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6F324B-0AC3-E642-A712-3E5402355163}" type="slidenum">
              <a:rPr lang="en-US" smtClean="0"/>
              <a:t>‹#›</a:t>
            </a:fld>
            <a:endParaRPr lang="en-US"/>
          </a:p>
        </p:txBody>
      </p:sp>
    </p:spTree>
    <p:extLst>
      <p:ext uri="{BB962C8B-B14F-4D97-AF65-F5344CB8AC3E}">
        <p14:creationId xmlns:p14="http://schemas.microsoft.com/office/powerpoint/2010/main" val="24030504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EFB6FA0-93B1-2A41-843B-B82F30929E0D}" type="datetimeFigureOut">
              <a:rPr lang="en-US" smtClean="0"/>
              <a:t>5/1/25</a:t>
            </a:fld>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B36F324B-0AC3-E642-A712-3E5402355163}" type="slidenum">
              <a:rPr lang="en-US" smtClean="0"/>
              <a:t>‹#›</a:t>
            </a:fld>
            <a:endParaRPr 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9018635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hyperlink" Target="https://www.kaggle.com/datasets/shariful07/student-mental-health" TargetMode="Externa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BF679-42B1-733C-67D0-C69BC9378D79}"/>
              </a:ext>
            </a:extLst>
          </p:cNvPr>
          <p:cNvSpPr>
            <a:spLocks noGrp="1"/>
          </p:cNvSpPr>
          <p:nvPr>
            <p:ph type="ctrTitle"/>
          </p:nvPr>
        </p:nvSpPr>
        <p:spPr/>
        <p:txBody>
          <a:bodyPr/>
          <a:lstStyle/>
          <a:p>
            <a:r>
              <a:rPr lang="en-US" dirty="0">
                <a:latin typeface="American Typewriter" panose="02090604020004020304" pitchFamily="18" charset="77"/>
              </a:rPr>
              <a:t>Midterm Project</a:t>
            </a:r>
          </a:p>
        </p:txBody>
      </p:sp>
      <p:sp>
        <p:nvSpPr>
          <p:cNvPr id="3" name="Subtitle 2">
            <a:extLst>
              <a:ext uri="{FF2B5EF4-FFF2-40B4-BE49-F238E27FC236}">
                <a16:creationId xmlns:a16="http://schemas.microsoft.com/office/drawing/2014/main" id="{020756DC-2C4F-95EC-5231-E73BE8449E90}"/>
              </a:ext>
            </a:extLst>
          </p:cNvPr>
          <p:cNvSpPr>
            <a:spLocks noGrp="1"/>
          </p:cNvSpPr>
          <p:nvPr>
            <p:ph type="subTitle" idx="1"/>
          </p:nvPr>
        </p:nvSpPr>
        <p:spPr/>
        <p:txBody>
          <a:bodyPr/>
          <a:lstStyle/>
          <a:p>
            <a:r>
              <a:rPr lang="en-US" dirty="0">
                <a:latin typeface="Arima Koshi" pitchFamily="2" charset="77"/>
                <a:cs typeface="Arima Koshi" pitchFamily="2" charset="77"/>
              </a:rPr>
              <a:t>By: Paula Buitrago</a:t>
            </a:r>
          </a:p>
        </p:txBody>
      </p:sp>
    </p:spTree>
    <p:extLst>
      <p:ext uri="{BB962C8B-B14F-4D97-AF65-F5344CB8AC3E}">
        <p14:creationId xmlns:p14="http://schemas.microsoft.com/office/powerpoint/2010/main" val="378392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20055-58B7-F897-FD4B-34DEA2EE72E4}"/>
              </a:ext>
            </a:extLst>
          </p:cNvPr>
          <p:cNvSpPr>
            <a:spLocks noGrp="1"/>
          </p:cNvSpPr>
          <p:nvPr>
            <p:ph type="title"/>
          </p:nvPr>
        </p:nvSpPr>
        <p:spPr>
          <a:xfrm>
            <a:off x="1313794" y="2127739"/>
            <a:ext cx="8996856" cy="2602522"/>
          </a:xfrm>
        </p:spPr>
        <p:txBody>
          <a:bodyPr>
            <a:noAutofit/>
          </a:bodyPr>
          <a:lstStyle/>
          <a:p>
            <a:pPr algn="ctr"/>
            <a:r>
              <a:rPr lang="en-US" sz="6600" cap="none" dirty="0">
                <a:latin typeface="Angsana New" panose="02020603050405020304" pitchFamily="18" charset="-34"/>
                <a:cs typeface="Angsana New" panose="02020603050405020304" pitchFamily="18" charset="-34"/>
              </a:rPr>
              <a:t>Do students with higher GPA report having more mental health issues like depression and anxiety?</a:t>
            </a:r>
          </a:p>
        </p:txBody>
      </p:sp>
    </p:spTree>
    <p:extLst>
      <p:ext uri="{BB962C8B-B14F-4D97-AF65-F5344CB8AC3E}">
        <p14:creationId xmlns:p14="http://schemas.microsoft.com/office/powerpoint/2010/main" val="1260969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3780FA6-C707-D830-A32D-BC82C216D757}"/>
              </a:ext>
            </a:extLst>
          </p:cNvPr>
          <p:cNvSpPr>
            <a:spLocks noGrp="1"/>
          </p:cNvSpPr>
          <p:nvPr>
            <p:ph type="body" idx="1"/>
          </p:nvPr>
        </p:nvSpPr>
        <p:spPr>
          <a:xfrm>
            <a:off x="1371600" y="764312"/>
            <a:ext cx="4443984" cy="823912"/>
          </a:xfrm>
        </p:spPr>
        <p:txBody>
          <a:bodyPr/>
          <a:lstStyle/>
          <a:p>
            <a:r>
              <a:rPr lang="en-US" b="1" dirty="0">
                <a:solidFill>
                  <a:schemeClr val="tx2">
                    <a:lumMod val="75000"/>
                    <a:lumOff val="25000"/>
                  </a:schemeClr>
                </a:solidFill>
                <a:latin typeface="American Typewriter" panose="02090604020004020304" pitchFamily="18" charset="77"/>
              </a:rPr>
              <a:t>Importance:</a:t>
            </a:r>
          </a:p>
        </p:txBody>
      </p:sp>
      <p:sp>
        <p:nvSpPr>
          <p:cNvPr id="4" name="Content Placeholder 3">
            <a:extLst>
              <a:ext uri="{FF2B5EF4-FFF2-40B4-BE49-F238E27FC236}">
                <a16:creationId xmlns:a16="http://schemas.microsoft.com/office/drawing/2014/main" id="{678EB026-C5A6-A6F2-399A-57291C190698}"/>
              </a:ext>
            </a:extLst>
          </p:cNvPr>
          <p:cNvSpPr>
            <a:spLocks noGrp="1"/>
          </p:cNvSpPr>
          <p:nvPr>
            <p:ph sz="half" idx="2"/>
          </p:nvPr>
        </p:nvSpPr>
        <p:spPr>
          <a:xfrm>
            <a:off x="1371600" y="1860331"/>
            <a:ext cx="4443984" cy="4007069"/>
          </a:xfrm>
        </p:spPr>
        <p:txBody>
          <a:bodyPr>
            <a:normAutofit lnSpcReduction="10000"/>
          </a:bodyPr>
          <a:lstStyle/>
          <a:p>
            <a:r>
              <a:rPr lang="en-US" dirty="0">
                <a:solidFill>
                  <a:schemeClr val="accent1">
                    <a:lumMod val="50000"/>
                  </a:schemeClr>
                </a:solidFill>
                <a:latin typeface="Arima Koshi" pitchFamily="2" charset="77"/>
                <a:cs typeface="Arima Koshi" pitchFamily="2" charset="77"/>
              </a:rPr>
              <a:t>College plays a major role in mental health, and as students, we can relate to the stress and pressure that comes with it. </a:t>
            </a:r>
          </a:p>
          <a:p>
            <a:r>
              <a:rPr lang="en-US" dirty="0">
                <a:solidFill>
                  <a:schemeClr val="accent1">
                    <a:lumMod val="50000"/>
                  </a:schemeClr>
                </a:solidFill>
                <a:latin typeface="Arima Koshi" pitchFamily="2" charset="77"/>
                <a:cs typeface="Arima Koshi" pitchFamily="2" charset="77"/>
              </a:rPr>
              <a:t>There’s often an assumption that students with high GPAs are doing great, but in reality, they might be under a lot of pressure, leading to anxiety and depression. </a:t>
            </a:r>
          </a:p>
          <a:p>
            <a:r>
              <a:rPr lang="en-US" dirty="0">
                <a:solidFill>
                  <a:schemeClr val="accent1">
                    <a:lumMod val="50000"/>
                  </a:schemeClr>
                </a:solidFill>
                <a:latin typeface="Arima Koshi" pitchFamily="2" charset="77"/>
                <a:cs typeface="Arima Koshi" pitchFamily="2" charset="77"/>
              </a:rPr>
              <a:t>Exploring this connection can raise awareness and encourage a healthier balance between academics and mental well-being.</a:t>
            </a:r>
          </a:p>
        </p:txBody>
      </p:sp>
      <p:sp>
        <p:nvSpPr>
          <p:cNvPr id="5" name="Text Placeholder 4">
            <a:extLst>
              <a:ext uri="{FF2B5EF4-FFF2-40B4-BE49-F238E27FC236}">
                <a16:creationId xmlns:a16="http://schemas.microsoft.com/office/drawing/2014/main" id="{30862021-CAF7-7C29-BDF8-083B1A0C3084}"/>
              </a:ext>
            </a:extLst>
          </p:cNvPr>
          <p:cNvSpPr>
            <a:spLocks noGrp="1"/>
          </p:cNvSpPr>
          <p:nvPr>
            <p:ph type="body" sz="quarter" idx="3"/>
          </p:nvPr>
        </p:nvSpPr>
        <p:spPr>
          <a:xfrm>
            <a:off x="6525014" y="764312"/>
            <a:ext cx="4443984" cy="823912"/>
          </a:xfrm>
        </p:spPr>
        <p:txBody>
          <a:bodyPr/>
          <a:lstStyle/>
          <a:p>
            <a:r>
              <a:rPr lang="en-US" b="1" dirty="0">
                <a:solidFill>
                  <a:schemeClr val="tx2">
                    <a:lumMod val="75000"/>
                    <a:lumOff val="25000"/>
                  </a:schemeClr>
                </a:solidFill>
                <a:latin typeface="American Typewriter" panose="02090604020004020304" pitchFamily="18" charset="77"/>
              </a:rPr>
              <a:t>Dataset used:</a:t>
            </a:r>
          </a:p>
        </p:txBody>
      </p:sp>
      <p:sp>
        <p:nvSpPr>
          <p:cNvPr id="6" name="Content Placeholder 5">
            <a:extLst>
              <a:ext uri="{FF2B5EF4-FFF2-40B4-BE49-F238E27FC236}">
                <a16:creationId xmlns:a16="http://schemas.microsoft.com/office/drawing/2014/main" id="{1D9DE402-71F1-19AC-C112-E88521806B29}"/>
              </a:ext>
            </a:extLst>
          </p:cNvPr>
          <p:cNvSpPr>
            <a:spLocks noGrp="1"/>
          </p:cNvSpPr>
          <p:nvPr>
            <p:ph sz="quarter" idx="4"/>
          </p:nvPr>
        </p:nvSpPr>
        <p:spPr>
          <a:xfrm>
            <a:off x="6525014" y="1860331"/>
            <a:ext cx="4443984" cy="4007069"/>
          </a:xfrm>
        </p:spPr>
        <p:txBody>
          <a:bodyPr>
            <a:normAutofit lnSpcReduction="10000"/>
          </a:bodyPr>
          <a:lstStyle/>
          <a:p>
            <a:r>
              <a:rPr lang="en-US" dirty="0">
                <a:solidFill>
                  <a:schemeClr val="accent1">
                    <a:lumMod val="50000"/>
                  </a:schemeClr>
                </a:solidFill>
                <a:latin typeface="Arima Koshi" pitchFamily="2" charset="77"/>
                <a:cs typeface="Arima Koshi" pitchFamily="2" charset="77"/>
              </a:rPr>
              <a:t>I used the </a:t>
            </a:r>
            <a:r>
              <a:rPr lang="en-US" i="1" dirty="0">
                <a:solidFill>
                  <a:schemeClr val="accent1">
                    <a:lumMod val="50000"/>
                  </a:schemeClr>
                </a:solidFill>
                <a:latin typeface="Arima Koshi" pitchFamily="2" charset="77"/>
                <a:cs typeface="Arima Koshi" pitchFamily="2" charset="77"/>
              </a:rPr>
              <a:t>Student Mental Health </a:t>
            </a:r>
            <a:r>
              <a:rPr lang="en-US" dirty="0">
                <a:solidFill>
                  <a:schemeClr val="accent1">
                    <a:lumMod val="50000"/>
                  </a:schemeClr>
                </a:solidFill>
                <a:latin typeface="Arima Koshi" pitchFamily="2" charset="77"/>
                <a:cs typeface="Arima Koshi" pitchFamily="2" charset="77"/>
              </a:rPr>
              <a:t>dataset by </a:t>
            </a:r>
            <a:r>
              <a:rPr lang="en-US" dirty="0" err="1">
                <a:solidFill>
                  <a:schemeClr val="accent1">
                    <a:lumMod val="50000"/>
                  </a:schemeClr>
                </a:solidFill>
                <a:latin typeface="Arima Koshi" pitchFamily="2" charset="77"/>
                <a:cs typeface="Arima Koshi" pitchFamily="2" charset="77"/>
              </a:rPr>
              <a:t>Shariful</a:t>
            </a:r>
            <a:r>
              <a:rPr lang="en-US" dirty="0">
                <a:solidFill>
                  <a:schemeClr val="accent1">
                    <a:lumMod val="50000"/>
                  </a:schemeClr>
                </a:solidFill>
                <a:latin typeface="Arima Koshi" pitchFamily="2" charset="77"/>
                <a:cs typeface="Arima Koshi" pitchFamily="2" charset="77"/>
              </a:rPr>
              <a:t> Islam. </a:t>
            </a:r>
          </a:p>
          <a:p>
            <a:r>
              <a:rPr lang="en-US" dirty="0">
                <a:solidFill>
                  <a:schemeClr val="accent1">
                    <a:lumMod val="50000"/>
                  </a:schemeClr>
                </a:solidFill>
                <a:latin typeface="Arima Koshi" pitchFamily="2" charset="77"/>
                <a:cs typeface="Arima Koshi" pitchFamily="2" charset="77"/>
              </a:rPr>
              <a:t>The data was collected through a survey conducted at the University of Malaysia. </a:t>
            </a:r>
          </a:p>
          <a:p>
            <a:r>
              <a:rPr lang="en-US" dirty="0">
                <a:solidFill>
                  <a:schemeClr val="accent1">
                    <a:lumMod val="50000"/>
                  </a:schemeClr>
                </a:solidFill>
                <a:latin typeface="Arima Koshi" pitchFamily="2" charset="77"/>
                <a:cs typeface="Arima Koshi" pitchFamily="2" charset="77"/>
              </a:rPr>
              <a:t>Consists of 101 objects and 11 variables.</a:t>
            </a:r>
          </a:p>
          <a:p>
            <a:r>
              <a:rPr lang="en-US" dirty="0">
                <a:solidFill>
                  <a:schemeClr val="accent1">
                    <a:lumMod val="50000"/>
                  </a:schemeClr>
                </a:solidFill>
                <a:latin typeface="Arima Koshi" pitchFamily="2" charset="77"/>
                <a:cs typeface="Arima Koshi" pitchFamily="2" charset="77"/>
                <a:hlinkClick r:id="rId2"/>
              </a:rPr>
              <a:t>https://www.kaggle.com/datasets/shariful07/student-mental-health</a:t>
            </a:r>
            <a:endParaRPr lang="en-US" dirty="0">
              <a:solidFill>
                <a:schemeClr val="accent1">
                  <a:lumMod val="50000"/>
                </a:schemeClr>
              </a:solidFill>
              <a:latin typeface="Arima Koshi" pitchFamily="2" charset="77"/>
              <a:cs typeface="Arima Koshi" pitchFamily="2" charset="77"/>
            </a:endParaRPr>
          </a:p>
          <a:p>
            <a:pPr marL="0" indent="0">
              <a:buNone/>
            </a:pPr>
            <a:endParaRPr lang="en-US" dirty="0">
              <a:solidFill>
                <a:schemeClr val="accent1">
                  <a:lumMod val="50000"/>
                </a:schemeClr>
              </a:solidFill>
              <a:latin typeface="Arima Koshi" pitchFamily="2" charset="77"/>
              <a:cs typeface="Arima Koshi" pitchFamily="2" charset="77"/>
            </a:endParaRPr>
          </a:p>
          <a:p>
            <a:pPr marL="0" indent="0">
              <a:buNone/>
            </a:pPr>
            <a:endParaRPr lang="en-US" dirty="0">
              <a:solidFill>
                <a:schemeClr val="accent1">
                  <a:lumMod val="50000"/>
                </a:schemeClr>
              </a:solidFill>
              <a:latin typeface="Arima Koshi" pitchFamily="2" charset="77"/>
              <a:cs typeface="Arima Koshi" pitchFamily="2" charset="77"/>
            </a:endParaRPr>
          </a:p>
        </p:txBody>
      </p:sp>
    </p:spTree>
    <p:extLst>
      <p:ext uri="{BB962C8B-B14F-4D97-AF65-F5344CB8AC3E}">
        <p14:creationId xmlns:p14="http://schemas.microsoft.com/office/powerpoint/2010/main" val="3780753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0D1E3-6C94-4A19-7D71-5C8AF7C55194}"/>
              </a:ext>
            </a:extLst>
          </p:cNvPr>
          <p:cNvSpPr>
            <a:spLocks noGrp="1"/>
          </p:cNvSpPr>
          <p:nvPr>
            <p:ph type="title"/>
          </p:nvPr>
        </p:nvSpPr>
        <p:spPr>
          <a:xfrm>
            <a:off x="1371600" y="723243"/>
            <a:ext cx="9601200" cy="763314"/>
          </a:xfrm>
        </p:spPr>
        <p:txBody>
          <a:bodyPr vert="horz" lIns="91440" tIns="45720" rIns="91440" bIns="45720" rtlCol="0" anchor="b">
            <a:noAutofit/>
          </a:bodyPr>
          <a:lstStyle/>
          <a:p>
            <a:pPr>
              <a:lnSpc>
                <a:spcPct val="84000"/>
              </a:lnSpc>
              <a:spcBef>
                <a:spcPts val="0"/>
              </a:spcBef>
              <a:buFont typeface="Franklin Gothic Book" panose="020B0503020102020204" pitchFamily="34" charset="0"/>
            </a:pPr>
            <a:r>
              <a:rPr lang="en-US" sz="3000" b="1" dirty="0">
                <a:solidFill>
                  <a:schemeClr val="tx2">
                    <a:lumMod val="75000"/>
                    <a:lumOff val="25000"/>
                  </a:schemeClr>
                </a:solidFill>
                <a:latin typeface="American Typewriter" panose="02090604020004020304" pitchFamily="18" charset="77"/>
                <a:ea typeface="+mn-ea"/>
                <a:cs typeface="+mn-cs"/>
              </a:rPr>
              <a:t>Data Analysis Process:</a:t>
            </a:r>
          </a:p>
        </p:txBody>
      </p:sp>
      <p:sp>
        <p:nvSpPr>
          <p:cNvPr id="3" name="Content Placeholder 2">
            <a:extLst>
              <a:ext uri="{FF2B5EF4-FFF2-40B4-BE49-F238E27FC236}">
                <a16:creationId xmlns:a16="http://schemas.microsoft.com/office/drawing/2014/main" id="{EA5A9EB5-2D03-9A51-7575-629505A7D5A2}"/>
              </a:ext>
            </a:extLst>
          </p:cNvPr>
          <p:cNvSpPr>
            <a:spLocks noGrp="1"/>
          </p:cNvSpPr>
          <p:nvPr>
            <p:ph idx="1"/>
          </p:nvPr>
        </p:nvSpPr>
        <p:spPr>
          <a:xfrm>
            <a:off x="1371600" y="1961493"/>
            <a:ext cx="9601200" cy="3581400"/>
          </a:xfrm>
        </p:spPr>
        <p:txBody>
          <a:bodyPr vert="horz" lIns="91440" tIns="45720" rIns="91440" bIns="45720" rtlCol="0">
            <a:normAutofit lnSpcReduction="10000"/>
          </a:bodyPr>
          <a:lstStyle/>
          <a:p>
            <a:pPr marL="457200" indent="-457200">
              <a:buFont typeface="+mj-lt"/>
              <a:buAutoNum type="arabicPeriod"/>
            </a:pPr>
            <a:r>
              <a:rPr lang="en-US" dirty="0">
                <a:solidFill>
                  <a:schemeClr val="accent1">
                    <a:lumMod val="50000"/>
                  </a:schemeClr>
                </a:solidFill>
                <a:latin typeface="Arima Koshi" pitchFamily="2" charset="77"/>
                <a:cs typeface="Arima Koshi" pitchFamily="2" charset="77"/>
              </a:rPr>
              <a:t>Read the CSV file, checked its dimensions, structure, missing values, and created summary statistics. </a:t>
            </a:r>
          </a:p>
          <a:p>
            <a:pPr marL="457200" indent="-457200">
              <a:buFont typeface="+mj-lt"/>
              <a:buAutoNum type="arabicPeriod"/>
            </a:pPr>
            <a:r>
              <a:rPr lang="en-US" dirty="0">
                <a:solidFill>
                  <a:schemeClr val="accent1">
                    <a:lumMod val="50000"/>
                  </a:schemeClr>
                </a:solidFill>
                <a:latin typeface="Arima Koshi" pitchFamily="2" charset="77"/>
                <a:cs typeface="Arima Koshi" pitchFamily="2" charset="77"/>
              </a:rPr>
              <a:t>Renamed the columns used to answer my research question for clarity (depression, anxiety, GPA).</a:t>
            </a:r>
          </a:p>
          <a:p>
            <a:pPr marL="457200" indent="-457200">
              <a:buFont typeface="+mj-lt"/>
              <a:buAutoNum type="arabicPeriod"/>
            </a:pPr>
            <a:r>
              <a:rPr lang="en-US" dirty="0">
                <a:solidFill>
                  <a:schemeClr val="accent1">
                    <a:lumMod val="50000"/>
                  </a:schemeClr>
                </a:solidFill>
                <a:latin typeface="Arima Koshi" pitchFamily="2" charset="77"/>
                <a:cs typeface="Arima Koshi" pitchFamily="2" charset="77"/>
              </a:rPr>
              <a:t>Converted GPA from a character to a categorical variable. </a:t>
            </a:r>
          </a:p>
          <a:p>
            <a:pPr marL="457200" indent="-457200">
              <a:buFont typeface="+mj-lt"/>
              <a:buAutoNum type="arabicPeriod"/>
            </a:pPr>
            <a:r>
              <a:rPr lang="en-US" dirty="0">
                <a:solidFill>
                  <a:schemeClr val="accent1">
                    <a:lumMod val="50000"/>
                  </a:schemeClr>
                </a:solidFill>
                <a:latin typeface="Arima Koshi" pitchFamily="2" charset="77"/>
                <a:cs typeface="Arima Koshi" pitchFamily="2" charset="77"/>
              </a:rPr>
              <a:t>Created frequency tables to analyze the relationship between GPA and the two mental health conditions I chose (depression and anxiety). </a:t>
            </a:r>
          </a:p>
          <a:p>
            <a:pPr marL="457200" indent="-457200">
              <a:buFont typeface="+mj-lt"/>
              <a:buAutoNum type="arabicPeriod"/>
            </a:pPr>
            <a:r>
              <a:rPr lang="en-US" dirty="0">
                <a:solidFill>
                  <a:schemeClr val="accent1">
                    <a:lumMod val="50000"/>
                  </a:schemeClr>
                </a:solidFill>
                <a:latin typeface="Arima Koshi" pitchFamily="2" charset="77"/>
                <a:cs typeface="Arima Koshi" pitchFamily="2" charset="77"/>
              </a:rPr>
              <a:t>Used bar plots to display the distribution of depression and anxiety across different GPA categories. </a:t>
            </a:r>
          </a:p>
          <a:p>
            <a:pPr marL="457200" indent="-457200">
              <a:buFont typeface="+mj-lt"/>
              <a:buAutoNum type="arabicPeriod"/>
            </a:pPr>
            <a:r>
              <a:rPr lang="en-US" dirty="0">
                <a:solidFill>
                  <a:schemeClr val="accent1">
                    <a:lumMod val="50000"/>
                  </a:schemeClr>
                </a:solidFill>
                <a:latin typeface="Arima Koshi" pitchFamily="2" charset="77"/>
                <a:cs typeface="Arima Koshi" pitchFamily="2" charset="77"/>
              </a:rPr>
              <a:t>Customized the graphs with colors, titles, and legends for better visualization. </a:t>
            </a:r>
          </a:p>
        </p:txBody>
      </p:sp>
    </p:spTree>
    <p:extLst>
      <p:ext uri="{BB962C8B-B14F-4D97-AF65-F5344CB8AC3E}">
        <p14:creationId xmlns:p14="http://schemas.microsoft.com/office/powerpoint/2010/main" val="3009235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275DFD-B74A-DEB6-061C-8CD5852269B4}"/>
              </a:ext>
            </a:extLst>
          </p:cNvPr>
          <p:cNvPicPr>
            <a:picLocks noChangeAspect="1"/>
          </p:cNvPicPr>
          <p:nvPr/>
        </p:nvPicPr>
        <p:blipFill rotWithShape="1">
          <a:blip r:embed="rId3"/>
          <a:srcRect l="432"/>
          <a:stretch/>
        </p:blipFill>
        <p:spPr>
          <a:xfrm>
            <a:off x="809517" y="402436"/>
            <a:ext cx="5602014" cy="3459247"/>
          </a:xfrm>
          <a:prstGeom prst="rect">
            <a:avLst/>
          </a:prstGeom>
        </p:spPr>
      </p:pic>
      <p:pic>
        <p:nvPicPr>
          <p:cNvPr id="5" name="Picture 4">
            <a:extLst>
              <a:ext uri="{FF2B5EF4-FFF2-40B4-BE49-F238E27FC236}">
                <a16:creationId xmlns:a16="http://schemas.microsoft.com/office/drawing/2014/main" id="{E636E2E3-5ED7-67E2-1979-07B531E40CCB}"/>
              </a:ext>
            </a:extLst>
          </p:cNvPr>
          <p:cNvPicPr>
            <a:picLocks noChangeAspect="1"/>
          </p:cNvPicPr>
          <p:nvPr/>
        </p:nvPicPr>
        <p:blipFill rotWithShape="1">
          <a:blip r:embed="rId4"/>
          <a:srcRect l="430"/>
          <a:stretch/>
        </p:blipFill>
        <p:spPr>
          <a:xfrm>
            <a:off x="6505684" y="402436"/>
            <a:ext cx="5602098" cy="3459247"/>
          </a:xfrm>
          <a:prstGeom prst="rect">
            <a:avLst/>
          </a:prstGeom>
        </p:spPr>
      </p:pic>
      <p:sp>
        <p:nvSpPr>
          <p:cNvPr id="7" name="TextBox 6">
            <a:extLst>
              <a:ext uri="{FF2B5EF4-FFF2-40B4-BE49-F238E27FC236}">
                <a16:creationId xmlns:a16="http://schemas.microsoft.com/office/drawing/2014/main" id="{3061C366-BEE7-586C-F34B-51B6B052B7C4}"/>
              </a:ext>
            </a:extLst>
          </p:cNvPr>
          <p:cNvSpPr txBox="1"/>
          <p:nvPr/>
        </p:nvSpPr>
        <p:spPr>
          <a:xfrm>
            <a:off x="908488" y="5731931"/>
            <a:ext cx="11006085" cy="923330"/>
          </a:xfrm>
          <a:prstGeom prst="rect">
            <a:avLst/>
          </a:prstGeom>
          <a:noFill/>
        </p:spPr>
        <p:txBody>
          <a:bodyPr wrap="square" rtlCol="0">
            <a:spAutoFit/>
          </a:bodyPr>
          <a:lstStyle/>
          <a:p>
            <a:r>
              <a:rPr lang="en-US" dirty="0">
                <a:solidFill>
                  <a:schemeClr val="accent1">
                    <a:lumMod val="50000"/>
                  </a:schemeClr>
                </a:solidFill>
                <a:latin typeface="Arima Koshi" pitchFamily="2" charset="77"/>
                <a:cs typeface="Arima Koshi" pitchFamily="2" charset="77"/>
              </a:rPr>
              <a:t>This data answers my question by showing that students who do better in school experience more depression and anxiety compared to lower GPA students. With that said, those with the highest GPA tend to experience more anxiety than depression. </a:t>
            </a:r>
          </a:p>
        </p:txBody>
      </p:sp>
      <p:pic>
        <p:nvPicPr>
          <p:cNvPr id="10" name="Picture 9">
            <a:extLst>
              <a:ext uri="{FF2B5EF4-FFF2-40B4-BE49-F238E27FC236}">
                <a16:creationId xmlns:a16="http://schemas.microsoft.com/office/drawing/2014/main" id="{AB030A6D-877C-0BF1-3C68-C2272A6659B3}"/>
              </a:ext>
            </a:extLst>
          </p:cNvPr>
          <p:cNvPicPr>
            <a:picLocks noChangeAspect="1"/>
          </p:cNvPicPr>
          <p:nvPr/>
        </p:nvPicPr>
        <p:blipFill>
          <a:blip r:embed="rId5"/>
          <a:stretch>
            <a:fillRect/>
          </a:stretch>
        </p:blipFill>
        <p:spPr>
          <a:xfrm>
            <a:off x="2658024" y="4079257"/>
            <a:ext cx="1905000" cy="1435100"/>
          </a:xfrm>
          <a:prstGeom prst="rect">
            <a:avLst/>
          </a:prstGeom>
        </p:spPr>
      </p:pic>
      <p:pic>
        <p:nvPicPr>
          <p:cNvPr id="12" name="Picture 11">
            <a:extLst>
              <a:ext uri="{FF2B5EF4-FFF2-40B4-BE49-F238E27FC236}">
                <a16:creationId xmlns:a16="http://schemas.microsoft.com/office/drawing/2014/main" id="{21545E4F-39BF-C016-F940-B6B5F26E358F}"/>
              </a:ext>
            </a:extLst>
          </p:cNvPr>
          <p:cNvPicPr>
            <a:picLocks noChangeAspect="1"/>
          </p:cNvPicPr>
          <p:nvPr/>
        </p:nvPicPr>
        <p:blipFill>
          <a:blip r:embed="rId6"/>
          <a:stretch>
            <a:fillRect/>
          </a:stretch>
        </p:blipFill>
        <p:spPr>
          <a:xfrm>
            <a:off x="8600526" y="4079257"/>
            <a:ext cx="1866900" cy="1409700"/>
          </a:xfrm>
          <a:prstGeom prst="rect">
            <a:avLst/>
          </a:prstGeom>
        </p:spPr>
      </p:pic>
    </p:spTree>
    <p:extLst>
      <p:ext uri="{BB962C8B-B14F-4D97-AF65-F5344CB8AC3E}">
        <p14:creationId xmlns:p14="http://schemas.microsoft.com/office/powerpoint/2010/main" val="2388148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4D052-D436-962A-23BE-05C9BACC843B}"/>
              </a:ext>
            </a:extLst>
          </p:cNvPr>
          <p:cNvSpPr>
            <a:spLocks noGrp="1"/>
          </p:cNvSpPr>
          <p:nvPr>
            <p:ph type="title"/>
          </p:nvPr>
        </p:nvSpPr>
        <p:spPr>
          <a:xfrm>
            <a:off x="723900" y="685801"/>
            <a:ext cx="3855720" cy="2157884"/>
          </a:xfrm>
        </p:spPr>
        <p:txBody>
          <a:bodyPr anchor="ctr"/>
          <a:lstStyle/>
          <a:p>
            <a:pPr algn="ctr"/>
            <a:r>
              <a:rPr lang="en-US" b="1" dirty="0">
                <a:solidFill>
                  <a:schemeClr val="bg2">
                    <a:lumMod val="25000"/>
                  </a:schemeClr>
                </a:solidFill>
                <a:latin typeface="American Typewriter" panose="02090604020004020304" pitchFamily="18" charset="77"/>
              </a:rPr>
              <a:t>Obstacles:</a:t>
            </a:r>
          </a:p>
        </p:txBody>
      </p:sp>
      <p:sp>
        <p:nvSpPr>
          <p:cNvPr id="3" name="Content Placeholder 2">
            <a:extLst>
              <a:ext uri="{FF2B5EF4-FFF2-40B4-BE49-F238E27FC236}">
                <a16:creationId xmlns:a16="http://schemas.microsoft.com/office/drawing/2014/main" id="{797C62C9-2A34-49A4-E8BD-806F1E7EBA3C}"/>
              </a:ext>
            </a:extLst>
          </p:cNvPr>
          <p:cNvSpPr>
            <a:spLocks noGrp="1"/>
          </p:cNvSpPr>
          <p:nvPr>
            <p:ph idx="1"/>
          </p:nvPr>
        </p:nvSpPr>
        <p:spPr>
          <a:xfrm>
            <a:off x="6256020" y="539472"/>
            <a:ext cx="5212080" cy="2450542"/>
          </a:xfrm>
        </p:spPr>
        <p:txBody>
          <a:bodyPr/>
          <a:lstStyle/>
          <a:p>
            <a:pPr>
              <a:buFont typeface="Wingdings" pitchFamily="2" charset="2"/>
              <a:buChar char="Ø"/>
            </a:pPr>
            <a:r>
              <a:rPr lang="en-US" dirty="0">
                <a:solidFill>
                  <a:schemeClr val="accent1">
                    <a:lumMod val="50000"/>
                  </a:schemeClr>
                </a:solidFill>
                <a:latin typeface="Arima Koshi" pitchFamily="2" charset="77"/>
                <a:cs typeface="Arima Koshi" pitchFamily="2" charset="77"/>
              </a:rPr>
              <a:t>Learning how to insert a legend into the graphs. </a:t>
            </a:r>
          </a:p>
          <a:p>
            <a:pPr>
              <a:buFont typeface="Wingdings" pitchFamily="2" charset="2"/>
              <a:buChar char="Ø"/>
            </a:pPr>
            <a:r>
              <a:rPr lang="en-US" dirty="0">
                <a:solidFill>
                  <a:schemeClr val="accent1">
                    <a:lumMod val="50000"/>
                  </a:schemeClr>
                </a:solidFill>
                <a:latin typeface="Arima Koshi" pitchFamily="2" charset="77"/>
                <a:cs typeface="Arima Koshi" pitchFamily="2" charset="77"/>
              </a:rPr>
              <a:t>Selecting a dataset that had substantial information to answer my research question.</a:t>
            </a:r>
          </a:p>
          <a:p>
            <a:pPr>
              <a:buFont typeface="Wingdings" pitchFamily="2" charset="2"/>
              <a:buChar char="Ø"/>
            </a:pPr>
            <a:r>
              <a:rPr lang="en-US" dirty="0">
                <a:solidFill>
                  <a:schemeClr val="accent1">
                    <a:lumMod val="50000"/>
                  </a:schemeClr>
                </a:solidFill>
                <a:latin typeface="Arima Koshi" pitchFamily="2" charset="77"/>
                <a:cs typeface="Arima Koshi" pitchFamily="2" charset="77"/>
              </a:rPr>
              <a:t>Debugging syntax errors in the data analysis process. </a:t>
            </a:r>
          </a:p>
        </p:txBody>
      </p:sp>
      <p:sp>
        <p:nvSpPr>
          <p:cNvPr id="5" name="Title 1">
            <a:extLst>
              <a:ext uri="{FF2B5EF4-FFF2-40B4-BE49-F238E27FC236}">
                <a16:creationId xmlns:a16="http://schemas.microsoft.com/office/drawing/2014/main" id="{568779F7-AF03-13DF-0D16-9DD7BA228B0D}"/>
              </a:ext>
            </a:extLst>
          </p:cNvPr>
          <p:cNvSpPr txBox="1">
            <a:spLocks/>
          </p:cNvSpPr>
          <p:nvPr/>
        </p:nvSpPr>
        <p:spPr>
          <a:xfrm>
            <a:off x="425012" y="3703167"/>
            <a:ext cx="4453496" cy="2157884"/>
          </a:xfrm>
          <a:prstGeom prst="rect">
            <a:avLst/>
          </a:prstGeom>
        </p:spPr>
        <p:txBody>
          <a:bodyPr vert="horz" lIns="91440" tIns="45720" rIns="91440" bIns="45720" rtlCol="0" anchor="ctr">
            <a:noAutofit/>
          </a:bodyPr>
          <a:lstStyle>
            <a:lvl1pPr algn="l" defTabSz="914400" rtl="0" eaLnBrk="1" latinLnBrk="0" hangingPunct="1">
              <a:lnSpc>
                <a:spcPct val="84000"/>
              </a:lnSpc>
              <a:spcBef>
                <a:spcPct val="0"/>
              </a:spcBef>
              <a:buNone/>
              <a:defRPr sz="4800" kern="1200" baseline="0">
                <a:solidFill>
                  <a:schemeClr val="tx2"/>
                </a:solidFill>
                <a:latin typeface="+mj-lt"/>
                <a:ea typeface="+mj-ea"/>
                <a:cs typeface="+mj-cs"/>
              </a:defRPr>
            </a:lvl1pPr>
          </a:lstStyle>
          <a:p>
            <a:pPr algn="ctr"/>
            <a:r>
              <a:rPr lang="en-US" b="1" dirty="0">
                <a:solidFill>
                  <a:schemeClr val="bg2">
                    <a:lumMod val="25000"/>
                  </a:schemeClr>
                </a:solidFill>
                <a:latin typeface="American Typewriter" panose="02090604020004020304" pitchFamily="18" charset="77"/>
              </a:rPr>
              <a:t>Future steps:</a:t>
            </a:r>
          </a:p>
        </p:txBody>
      </p:sp>
      <p:sp>
        <p:nvSpPr>
          <p:cNvPr id="6" name="Content Placeholder 2">
            <a:extLst>
              <a:ext uri="{FF2B5EF4-FFF2-40B4-BE49-F238E27FC236}">
                <a16:creationId xmlns:a16="http://schemas.microsoft.com/office/drawing/2014/main" id="{6399455C-C2F8-5F76-867D-95337A012DA5}"/>
              </a:ext>
            </a:extLst>
          </p:cNvPr>
          <p:cNvSpPr txBox="1">
            <a:spLocks/>
          </p:cNvSpPr>
          <p:nvPr/>
        </p:nvSpPr>
        <p:spPr>
          <a:xfrm>
            <a:off x="6256020" y="3556838"/>
            <a:ext cx="5212080" cy="2450541"/>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9pPr>
          </a:lstStyle>
          <a:p>
            <a:pPr>
              <a:buFont typeface="Wingdings" pitchFamily="2" charset="2"/>
              <a:buChar char="v"/>
            </a:pPr>
            <a:r>
              <a:rPr lang="en-US" dirty="0">
                <a:solidFill>
                  <a:schemeClr val="accent1">
                    <a:lumMod val="50000"/>
                  </a:schemeClr>
                </a:solidFill>
                <a:latin typeface="Arima Koshi" pitchFamily="2" charset="77"/>
                <a:cs typeface="Arima Koshi" pitchFamily="2" charset="77"/>
              </a:rPr>
              <a:t>Consider more variables like students’ majors, age, and gender.</a:t>
            </a:r>
          </a:p>
          <a:p>
            <a:pPr>
              <a:buFont typeface="Wingdings" pitchFamily="2" charset="2"/>
              <a:buChar char="v"/>
            </a:pPr>
            <a:r>
              <a:rPr lang="en-US" dirty="0">
                <a:solidFill>
                  <a:schemeClr val="accent1">
                    <a:lumMod val="50000"/>
                  </a:schemeClr>
                </a:solidFill>
                <a:latin typeface="Arima Koshi" pitchFamily="2" charset="77"/>
                <a:cs typeface="Arima Koshi" pitchFamily="2" charset="77"/>
              </a:rPr>
              <a:t>Compare the data with students from different universities and community colleges.</a:t>
            </a:r>
          </a:p>
          <a:p>
            <a:pPr>
              <a:buFont typeface="Wingdings" pitchFamily="2" charset="2"/>
              <a:buChar char="v"/>
            </a:pPr>
            <a:r>
              <a:rPr lang="en-US" dirty="0">
                <a:solidFill>
                  <a:schemeClr val="accent1">
                    <a:lumMod val="50000"/>
                  </a:schemeClr>
                </a:solidFill>
                <a:latin typeface="Arima Koshi" pitchFamily="2" charset="77"/>
                <a:cs typeface="Arima Koshi" pitchFamily="2" charset="77"/>
              </a:rPr>
              <a:t>Collect data from a larger and more diverse population to get clearer trends. </a:t>
            </a:r>
          </a:p>
        </p:txBody>
      </p:sp>
      <p:cxnSp>
        <p:nvCxnSpPr>
          <p:cNvPr id="9" name="Straight Connector 8">
            <a:extLst>
              <a:ext uri="{FF2B5EF4-FFF2-40B4-BE49-F238E27FC236}">
                <a16:creationId xmlns:a16="http://schemas.microsoft.com/office/drawing/2014/main" id="{27A8DE97-3FC0-0A9C-7135-9F0765F601E2}"/>
              </a:ext>
            </a:extLst>
          </p:cNvPr>
          <p:cNvCxnSpPr>
            <a:cxnSpLocks/>
          </p:cNvCxnSpPr>
          <p:nvPr/>
        </p:nvCxnSpPr>
        <p:spPr>
          <a:xfrm>
            <a:off x="0" y="3156563"/>
            <a:ext cx="12192000" cy="0"/>
          </a:xfrm>
          <a:prstGeom prst="line">
            <a:avLst/>
          </a:prstGeom>
          <a:ln>
            <a:headEnd type="none" w="med" len="med"/>
            <a:tailEnd type="none" w="med" len="med"/>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350015000"/>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{2E98A2EA-3A53-2246-A732-FF7B71CA30CB}tf10001072</Template>
  <TotalTime>2841</TotalTime>
  <Words>427</Words>
  <Application>Microsoft Macintosh PowerPoint</Application>
  <PresentationFormat>Widescreen</PresentationFormat>
  <Paragraphs>31</Paragraphs>
  <Slides>6</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American Typewriter</vt:lpstr>
      <vt:lpstr>Angsana New</vt:lpstr>
      <vt:lpstr>Arima Koshi</vt:lpstr>
      <vt:lpstr>Calibri</vt:lpstr>
      <vt:lpstr>Franklin Gothic Book</vt:lpstr>
      <vt:lpstr>Wingdings</vt:lpstr>
      <vt:lpstr>Crop</vt:lpstr>
      <vt:lpstr>Midterm Project</vt:lpstr>
      <vt:lpstr>Do students with higher GPA report having more mental health issues like depression and anxiety?</vt:lpstr>
      <vt:lpstr>PowerPoint Presentation</vt:lpstr>
      <vt:lpstr>Data Analysis Process:</vt:lpstr>
      <vt:lpstr>PowerPoint Presentation</vt:lpstr>
      <vt:lpstr>Obstacles: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Midterm Project</dc:title>
  <dc:creator>Paula Buitrago</dc:creator>
  <cp:lastModifiedBy>Paula Buitrago</cp:lastModifiedBy>
  <cp:revision>5</cp:revision>
  <dcterms:created xsi:type="dcterms:W3CDTF">2025-03-09T22:43:51Z</dcterms:created>
  <dcterms:modified xsi:type="dcterms:W3CDTF">2025-05-03T14:30:00Z</dcterms:modified>
</cp:coreProperties>
</file>